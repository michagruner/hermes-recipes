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frontier APIs</c:v>
                </c:pt>
              </c:strCache>
            </c:strRef>
          </c:tx>
          <c:spPr>
            <a:solidFill>
              <a:srgbClr val="0B2239"/>
            </a:solidFill>
            <a:ln w="38100" cap="flat">
              <a:solidFill>
                <a:srgbClr val="0B22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2239"/>
              </a:solidFill>
              <a:ln w="9525" cap="flat">
                <a:solidFill>
                  <a:srgbClr val="0B22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85</c:v>
                </c:pt>
                <c:pt idx="3">
                  <c:v>93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Open-weight models</c:v>
                </c:pt>
              </c:strCache>
            </c:strRef>
          </c:tx>
          <c:spPr>
            <a:solidFill>
              <a:srgbClr val="C41230"/>
            </a:solidFill>
            <a:ln w="38100" cap="flat">
              <a:solidFill>
                <a:srgbClr val="C412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1230"/>
              </a:solidFill>
              <a:ln w="9525" cap="flat">
                <a:solidFill>
                  <a:srgbClr val="C412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72</c:v>
                </c:pt>
                <c:pt idx="3">
                  <c:v>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8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 want to make the case that frontier-quality AI can run inside our own data center — and that this is a strategic decision, not an IT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forces converged: AI became strategic, the default way to consume it creates dependency, and open-weight models changed the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Open-weight models now sit within a few points of the best closed models on standard benchmarks — and we can run them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simple: data and models live inside the same perimeter. Requests never leave, so residency and control are properties of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Sovereignty is usually framed as a constraint. Frame it as value: control, predictable cost, independence, and flexibility.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pragmatic 2x2: sensitivity on one axis, capability need on the other. The top-right — sensitive and frontier — is our strategic core and the pilot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months, three phases, explicit gates. We prove on a small cluster, scale what works, then make sovereign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view: gaps exist, hardware costs, skills are scarce, hardware lock-in is a risk. Each has a concrete mitigation — none is a blocker.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asks. Frame it as: the technology is ready, the risks are managed, and the decision is strategic — for our data, our costs, and our independence.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1.png"/><Relationship Id="rId6" Type="http://schemas.openxmlformats.org/officeDocument/2006/relationships/image" Target="../media/image-8-2.png"/><Relationship Id="rId7" Type="http://schemas.openxmlformats.org/officeDocument/2006/relationships/image" Target="../media/image-8-1.png"/><Relationship Id="rId8" Type="http://schemas.openxmlformats.org/officeDocument/2006/relationships/image" Target="../media/image-8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CONFERENCE · KEYNOTE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Frontier-class intelligence that runs inside our walls. </a:t>
            </a:r>
            <a:pPr indent="0" marL="0">
              <a:buNone/>
            </a:pPr>
            <a:r>
              <a:rPr lang="en-US" sz="17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from hyperscalers. Zero data egress.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4069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[Speaker name] · [Title], [Company]
</a:t>
            </a:r>
            <a:pPr indent="0" marL="0">
              <a:buNone/>
            </a:pPr>
            <a:r>
              <a:rPr lang="en-US" sz="13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[Conference] · [Date]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32520" y="1417320"/>
            <a:ext cx="2834640" cy="2834640"/>
          </a:xfrm>
          <a:prstGeom prst="ellipse">
            <a:avLst/>
          </a:prstGeom>
          <a:ln w="25400">
            <a:solidFill>
              <a:srgbClr val="2E4E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2057400"/>
            <a:ext cx="1554480" cy="1554480"/>
          </a:xfrm>
          <a:prstGeom prst="ellipse">
            <a:avLst/>
          </a:prstGeom>
          <a:solidFill>
            <a:srgbClr val="1D3A5F"/>
          </a:solidFill>
          <a:ln/>
        </p:spPr>
      </p:sp>
      <p:pic>
        <p:nvPicPr>
          <p:cNvPr id="9" name="Image 0" descr="/workspace/tmp/sovereign-ai/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2414016"/>
            <a:ext cx="841248" cy="8412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3252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CONTAINED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MOMENT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core to our business — the way we run it isn't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56616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71800" y="19659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8" name="Image 0" descr="/workspace/tmp/sovereign-ai/icons/chip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becoming strategic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moving from experiments into our products, processes, and decisions. It is no longer a tool — it is infrastructure.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1874520"/>
            <a:ext cx="356616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12280" y="19659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4754880" y="210312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14" name="Image 1" descr="/workspace/tmp/sovereign-ai/icons/clou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585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dependency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AI from hyperscalers means our data, our costs, and our roadmap live on someone else’s platform.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75320" y="1874520"/>
            <a:ext cx="356616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0652760" y="19659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8595360" y="210312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20" name="Image 2" descr="/workspace/tmp/sovereign-ai/icons/layers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225856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moved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59536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have closed the quality gap. What needed a hyperscaler in 2023 now fits on our own GPUs.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94360" y="5074920"/>
            <a:ext cx="11000232" cy="960120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4" name="Shape 19"/>
          <p:cNvSpPr/>
          <p:nvPr/>
        </p:nvSpPr>
        <p:spPr>
          <a:xfrm>
            <a:off x="914400" y="548640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Text 20"/>
          <p:cNvSpPr/>
          <p:nvPr/>
        </p:nvSpPr>
        <p:spPr>
          <a:xfrm>
            <a:off x="1234440" y="5285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whether we can run AI ourselves — it's whether we can afford not to.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crossed the quality threshold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82880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7607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composite of public benchmarks (MMLU, GSM8K, HumanEval). Capability index 0–100.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498080" y="18288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Frontier-class, on our hardware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0" y="2331720"/>
            <a:ext cx="4096512" cy="1965960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2514600"/>
            <a:ext cx="3593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· 405B — Meta, open weights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— European, open weights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— Alibaba, open weights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— permissive license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 — Microsoft, open weights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98080" y="452628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we own and inspect
</a:t>
            </a:r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commodity GPUs, tuned on our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0" y="548640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license ≠ open weights: the models we target are downloadable, self-hostable, and auditable.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center, zero egress: intelligence where the data lives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1000232" cy="3657600"/>
          </a:xfrm>
          <a:prstGeom prst="rect">
            <a:avLst/>
          </a:prstGeom>
          <a:solidFill>
            <a:srgbClr val="F2F5F8"/>
          </a:solidFill>
          <a:ln w="19050">
            <a:solidFill>
              <a:srgbClr val="0B223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CENTER</a:t>
            </a:r>
            <a:endParaRPr lang="en-US" sz="1000" dirty="0"/>
          </a:p>
        </p:txBody>
      </p:sp>
      <p:pic>
        <p:nvPicPr>
          <p:cNvPr id="7" name="Image 0" descr="/workspace/tmp/sovereign-ai/icons/cloud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148840"/>
            <a:ext cx="56692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771632" y="1938528"/>
            <a:ext cx="310896" cy="310896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9" name="Text 6"/>
          <p:cNvSpPr/>
          <p:nvPr/>
        </p:nvSpPr>
        <p:spPr>
          <a:xfrm>
            <a:off x="1077163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calls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51560" y="2514600"/>
            <a:ext cx="2971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0B2239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pic>
        <p:nvPicPr>
          <p:cNvPr id="12" name="Image 1" descr="/workspace/tmp/sovereign-ai/icons/db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761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data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25880" y="3337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data, documents, prompts — the assets that must never leave.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14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0520" y="3154680"/>
            <a:ext cx="1051560" cy="310896"/>
          </a:xfrm>
          <a:prstGeom prst="rightArrow">
            <a:avLst/>
          </a:prstGeom>
          <a:solidFill>
            <a:srgbClr val="0B2239"/>
          </a:solidFill>
          <a:ln/>
        </p:spPr>
      </p:sp>
      <p:sp>
        <p:nvSpPr>
          <p:cNvPr id="17" name="Shape 13"/>
          <p:cNvSpPr/>
          <p:nvPr/>
        </p:nvSpPr>
        <p:spPr>
          <a:xfrm>
            <a:off x="5349240" y="2514600"/>
            <a:ext cx="4572000" cy="2148840"/>
          </a:xfrm>
          <a:prstGeom prst="roundRect">
            <a:avLst>
              <a:gd name="adj" fmla="val 2553"/>
            </a:avLst>
          </a:prstGeom>
          <a:solidFill>
            <a:srgbClr val="0B2239"/>
          </a:solidFill>
          <a:ln/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pic>
        <p:nvPicPr>
          <p:cNvPr id="18" name="Image 2" descr="/workspace/tmp/sovereign-ai/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7432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761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 cluster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66928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models, served in-house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66928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· Mistral · Qwen · DeepSeek · Phi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69280" y="40416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our data · auditable end-to-end · versioned by us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94360" y="5532120"/>
            <a:ext cx="11000232" cy="777240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4" name="Shape 19"/>
          <p:cNvSpPr/>
          <p:nvPr/>
        </p:nvSpPr>
        <p:spPr>
          <a:xfrm>
            <a:off x="914400" y="5925312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Text 20"/>
          <p:cNvSpPr/>
          <p:nvPr/>
        </p:nvSpPr>
        <p:spPr>
          <a:xfrm>
            <a:off x="1234440" y="5733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leaves. Weights stay ours. Zero egress — zero vendor lock-in.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SOVEREIGNTY BUYS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assets, one decision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4924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7" name="Image 0" descr="/workspace/tmp/sovereign-ai/icons/shield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04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12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9992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IP never leave our perimeter — residency, audit, and compliance by construction.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4884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12" name="Image 1" descr="/workspace/tmp/sovereign-ai/icons/ta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042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2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predictability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83680" y="29992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infrastructure cost instead of per-token exposure that grows with every user.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3977640"/>
            <a:ext cx="534924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29768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17" name="Image 2" descr="/workspace/tmp/sovereign-ai/icons/power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4531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361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14400" y="51480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roadmap, price changes, or deprecations deciding our AI future.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4297680"/>
            <a:ext cx="658368" cy="658368"/>
          </a:xfrm>
          <a:prstGeom prst="ellipse">
            <a:avLst/>
          </a:prstGeom>
          <a:solidFill>
            <a:srgbClr val="F2F5F8"/>
          </a:solidFill>
          <a:ln/>
        </p:spPr>
      </p:sp>
      <p:pic>
        <p:nvPicPr>
          <p:cNvPr id="22" name="Image 3" descr="/workspace/tmp/sovereign-ai/icons/layer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5312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361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optionality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583680" y="51480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weights — fine-tune on our data, switch models, stay flexible.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LENS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must be local — the question is fit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234440" y="3794760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4206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 — commodity is fine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48463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stakes, standard tasks: public APIs are acceptable.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3794760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4206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easy win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37760" y="48463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data, proven capability: move in-house first.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34440" y="1965960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377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— hybrid acceptable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Frontier-only edge cases may use APIs while we track the gap.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3429000" cy="1828800"/>
          </a:xfrm>
          <a:prstGeom prst="rect">
            <a:avLst/>
          </a:prstGeom>
          <a:solidFill>
            <a:srgbClr val="0B2239"/>
          </a:solidFill>
          <a:ln w="19050">
            <a:solidFill>
              <a:srgbClr val="0B22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240280"/>
            <a:ext cx="128016" cy="12801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514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default — run locally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sensitivity, frontier quality: the strategic core.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5696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sensitivity  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 rot="16200000">
            <a:off x="13716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need  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71600" y="5696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5696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49640" y="1965960"/>
            <a:ext cx="3044952" cy="2880360"/>
          </a:xfrm>
          <a:prstGeom prst="roundRect">
            <a:avLst>
              <a:gd name="adj" fmla="val 1270"/>
            </a:avLst>
          </a:prstGeom>
          <a:solidFill>
            <a:srgbClr val="F2F5F8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23960" y="22402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policy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27432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local unless a documented exception applies.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reviewed quarterly by the architecture board.</a:t>
            </a:r>
            <a:endParaRPr lang="en-US" sz="1150" dirty="0"/>
          </a:p>
          <a:p>
            <a:pPr marL="342900" indent="-342900"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AI workload gets a fit classification.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49640" y="50292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beats a 40-page policy.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from pilot to default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7472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128016" cy="12801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small GPU cluster (8× H100-class)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2–3 high-value, high-sensitivity workloads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frontier APIs on quality and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50792" y="3291840"/>
            <a:ext cx="237744" cy="274320"/>
          </a:xfrm>
          <a:prstGeom prst="rightArrow">
            <a:avLst/>
          </a:prstGeom>
          <a:solidFill>
            <a:srgbClr val="C41230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2240280"/>
            <a:ext cx="128016" cy="12801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5" name="Text 13"/>
          <p:cNvSpPr/>
          <p:nvPr/>
        </p:nvSpPr>
        <p:spPr>
          <a:xfrm>
            <a:off x="4928616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2487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81728" y="2999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81728" y="34290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model catalog and workload coverage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governance, observability, and MLOps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60%+ of eligible workloads in-house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3291840"/>
            <a:ext cx="237744" cy="274320"/>
          </a:xfrm>
          <a:prstGeom prst="rightArrow">
            <a:avLst/>
          </a:prstGeom>
          <a:solidFill>
            <a:srgbClr val="C41230"/>
          </a:solidFill>
          <a:ln/>
        </p:spPr>
      </p:sp>
      <p:sp>
        <p:nvSpPr>
          <p:cNvPr id="20" name="Text 18"/>
          <p:cNvSpPr/>
          <p:nvPr/>
        </p:nvSpPr>
        <p:spPr>
          <a:xfrm>
            <a:off x="7488936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29016" y="1965960"/>
            <a:ext cx="347472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49056" y="2240280"/>
            <a:ext cx="128016" cy="12801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3" name="Text 21"/>
          <p:cNvSpPr/>
          <p:nvPr/>
        </p:nvSpPr>
        <p:spPr>
          <a:xfrm>
            <a:off x="8695944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49056" y="2487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449056" y="2999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49056" y="34290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as default for AI workloads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DR, and security hardening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adopt newest open-weight models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486400"/>
            <a:ext cx="11000232" cy="777240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5879592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687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an explicit gate — quality parity and unit economics — before the next one starts.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are real, familiar, and manageable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pic>
        <p:nvPicPr>
          <p:cNvPr id="6" name="Image 0" descr="/workspace/tmp/sovereign-ai/icons/aler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91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capability gaps on edge cases</a:t>
            </a:r>
            <a:endParaRPr lang="en-US" sz="1250" dirty="0"/>
          </a:p>
        </p:txBody>
      </p:sp>
      <p:pic>
        <p:nvPicPr>
          <p:cNvPr id="8" name="Image 1" descr="/workspace/tmp/sovereign-ai/icons/check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3911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8928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fallback to frontier APIs for exceptions — the escape hatch stays open.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4360" y="2880360"/>
            <a:ext cx="11000232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pic>
        <p:nvPicPr>
          <p:cNvPr id="11" name="Image 2" descr="/workspace/tmp/sovereign-ai/icons/aler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3639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9900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procurement and hardware cost</a:t>
            </a:r>
            <a:endParaRPr lang="en-US" sz="1250" dirty="0"/>
          </a:p>
        </p:txBody>
      </p:sp>
      <p:pic>
        <p:nvPicPr>
          <p:cNvPr id="13" name="Image 3" descr="/workspace/tmp/sovereign-ai/icons/check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136392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720" y="29900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scale on measured demand; compare TCO against per-token spend.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94360" y="3977640"/>
            <a:ext cx="11000232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pic>
        <p:nvPicPr>
          <p:cNvPr id="16" name="Image 4" descr="/workspace/tmp/sovereign-ai/icons/alert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33672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480" y="40873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operations maturity</a:t>
            </a:r>
            <a:endParaRPr lang="en-US" sz="1250" dirty="0"/>
          </a:p>
        </p:txBody>
      </p:sp>
      <p:pic>
        <p:nvPicPr>
          <p:cNvPr id="18" name="Image 5" descr="/workspace/tmp/sovereign-ai/icons/check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233672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03720" y="40873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open-source ecosystem; managed inference stacks; upskill a core team.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594360" y="5074920"/>
            <a:ext cx="11000232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63500" dist="25400" dir="2700000">
              <a:srgbClr val="0B2239">
                <a:alpha val="10000"/>
              </a:srgbClr>
            </a:outerShdw>
          </a:effectLst>
        </p:spPr>
      </p:sp>
      <p:pic>
        <p:nvPicPr>
          <p:cNvPr id="21" name="Image 6" descr="/workspace/tmp/sovereign-ai/icons/alert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330952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554480" y="51846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at the hardware layer</a:t>
            </a:r>
            <a:endParaRPr lang="en-US" sz="1250" dirty="0"/>
          </a:p>
        </p:txBody>
      </p:sp>
      <p:pic>
        <p:nvPicPr>
          <p:cNvPr id="23" name="Image 7" descr="/workspace/tmp/sovereign-ai/icons/check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5330952"/>
            <a:ext cx="457200" cy="4572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03720" y="51846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(vLLM, ONNX) and portable artifacts — models, not vendors, are the asset.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26" name="Text 16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is a strategy decision — let's make it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94360" y="2203704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"data stays inside"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zero-egress as the default policy for all AI workloads.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55264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sovereign pilot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675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cluster, 2–3 workloads, 90 days, explicit success gates.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306824"/>
            <a:ext cx="146304" cy="14630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51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capability build-out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727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tooling, and governance — owned by us, not rented from a vendor.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is available. The choice is ours to make.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[Speaker name] · [Company] — thank you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· Management Conference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8293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2026-08-12T13:35:31Z</dcterms:created>
  <dcterms:modified xsi:type="dcterms:W3CDTF">2026-08-12T13:35:31Z</dcterms:modified>
</cp:coreProperties>
</file>
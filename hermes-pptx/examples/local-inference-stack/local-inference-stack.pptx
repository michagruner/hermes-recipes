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this is a spend-gate brief, not a model bake-off. The ask is a two-tier fleet, not an 8× H200 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One-SKU shops fail in opposite directions: H200-only wastes money on Flash; RTX-only cannot serve GLM.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 is the only realistically self-hostable company default. GLM is quality, not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buy 8× RTX to save money on GLM. Do not buy only H200 to run Flash.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engineers will screenshot. Keep the honest-box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put dollar figures on this slide. Utilization is the decision variable.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 is why this is a company system, not a lab GPU.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plan slide. Do not replace it with 30/60/90.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only remember one slide after 09, it is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TensorRT-LLM only after model + SKU frozen 6+ months. Prefill/decode split is not Phase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Interconnect is the SKU decision. Price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let anyone quote active params as the memory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is a product policy, not a model-card copy-paste.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any of these six is missing, do not call it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purchase slide. One node. Not a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we will not buy 8× H200 on a vendor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389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BRIEF  ·  TECH + TECHNICAL SENIOR MANAGEMENT  ·  15 AUGUST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0972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43000"/>
            <a:ext cx="7863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the daily driver,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lab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open-weight inference is a two-tier fleet problem.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standardize on 8× H200.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406908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133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4498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DEFAULT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406908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4133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RTX / 2×H200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4498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IRON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15000" y="406908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0" y="4133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 H200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15000" y="4498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32520" y="1234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1  ·  Decision (slides 01–09)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2  ·  Deep dive (slides 10–16)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732520" y="2011680"/>
            <a:ext cx="2926080" cy="2148840"/>
          </a:xfrm>
          <a:prstGeom prst="roundRect">
            <a:avLst>
              <a:gd name="adj" fmla="val 3404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0" y="2148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MINUTES  ·  ONE ROOM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69680" y="2487168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Directors can leave after slide 09 and still decide.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take 10–16 to design review.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locked brief 2026-08-15  ·  no invented prices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 two-tier fleet — do not standardize on 8× H200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585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 ·  Local open-weight inference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8695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3584448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98448"/>
            <a:ext cx="3584448" cy="38404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298448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847088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Homogeneous H200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514600"/>
            <a:ext cx="32186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Overpays for Flash all day. Correct only if GLM-5.2 or V4-Pro is a hard day-one requirement.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51960" y="1298448"/>
            <a:ext cx="3584448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298448"/>
            <a:ext cx="3584448" cy="38404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298448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1847088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 RTX for GLM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4840" y="2514600"/>
            <a:ext cx="32186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 GB barely holds ~744 GB FP8. PCIe loses 3–4× vs NVLink on 8-way TP.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298448"/>
            <a:ext cx="3584448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1298448"/>
            <a:ext cx="3584448" cy="38404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0" name="Text 18"/>
          <p:cNvSpPr/>
          <p:nvPr/>
        </p:nvSpPr>
        <p:spPr>
          <a:xfrm>
            <a:off x="8001000" y="1298448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83880" y="1847088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Two-tier fleet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83880" y="2514600"/>
            <a:ext cx="32186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RTX / 2× H200 for Flash replicas. 8× H200 only after bake-off + utilization gates.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4709160"/>
            <a:ext cx="11185855" cy="713232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709160"/>
            <a:ext cx="10820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shard 4–8 ways → HBM + NVLink. Fits 1–2 GPUs at FP4/FP8 → RTX PRO 6000 and scale with replicas.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Flash locally. Gate GLM-5.2 on a bake-off and utilization.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585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 ·  Local open-weight inference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8695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61872"/>
          <a:ext cx="11185855" cy="3794760"/>
        </p:xfrm>
        <a:graphic>
          <a:graphicData uri="http://schemas.openxmlformats.org/drawingml/2006/table">
            <a:tbl>
              <a:tblPr/>
              <a:tblGrid>
                <a:gridCol w="3017520"/>
                <a:gridCol w="2377440"/>
                <a:gridCol w="3017520"/>
                <a:gridCol w="277063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it is the default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Honest box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 V4 Flash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284B / 13B · MIT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 daily driver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Now — after Phase 0 measures mix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 H200 or 2–4× RTX PRO 6000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Tencent Hy3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295B / 21B · Apache 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/ search Goldilocks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if 4× H200 already exists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4× H200 FP8 · 8× H200 BF16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GLM-5.2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~753B / ~40B · MIT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Coding-quality buy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after bake-off + &gt;~40% util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8× H200 FP8. Period.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V4-Pro 1.6T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 job — not a buy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 the company default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 TB+ even at 4-bit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5193792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Hy3 coding scores lag GLM on Tencent’s own tables (SWE-Verified 78.0 vs 84.2) — vendor-reported. Independent scores: TBD.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 is the interconnect card. RTX PRO 6000 is the replica card.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585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 ·  Local open-weight inference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8695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61872"/>
          <a:ext cx="7635240" cy="4160520"/>
        </p:xfrm>
        <a:graphic>
          <a:graphicData uri="http://schemas.openxmlformats.org/drawingml/2006/table">
            <a:tbl>
              <a:tblPr/>
              <a:tblGrid>
                <a:gridCol w="1965960"/>
                <a:gridCol w="2926080"/>
                <a:gridCol w="274320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RTX PRO 6000 Blackwell 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 GB GDDR7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 GB HBM3e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Bandwidth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~1.6–1.8 TB/s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 TB/s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Interconnect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PCIe 5 only — no NVLink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NVLink / SXM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low prec.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FP4 (NVFP4)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~400–600 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~600–700 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Cost/token on 1–2 GPU replicas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 MoE + long KV + 4–8 way TP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321040" y="1261872"/>
            <a:ext cx="3364992" cy="4160520"/>
          </a:xfrm>
          <a:prstGeom prst="roundRect">
            <a:avLst>
              <a:gd name="adj" fmla="val 2174"/>
            </a:avLst>
          </a:prstGeom>
          <a:solidFill>
            <a:srgbClr val="0B1220"/>
          </a:solidFill>
          <a:ln/>
        </p:spPr>
      </p:sp>
      <p:sp>
        <p:nvSpPr>
          <p:cNvPr id="10" name="Text 7"/>
          <p:cNvSpPr/>
          <p:nvPr/>
        </p:nvSpPr>
        <p:spPr>
          <a:xfrm>
            <a:off x="8485632" y="141732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BENCHES SAY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485632" y="1828800"/>
            <a:ext cx="3035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one card: RTX ≈ H100/H200 on $/M tokens.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85632" y="2971800"/>
            <a:ext cx="30358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8-way tensor parallel: PCIe loses 3–4× throughput. That is GLM-5.2 and Hy3-BF16.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85632" y="4434840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Street / colo $: TBD — RFQ.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FIT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VRAM is set by total params. Speed is set by active params.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585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 ·  Local open-weight inference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8695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61872"/>
          <a:ext cx="11185855" cy="3657600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  <a:gridCol w="4297680"/>
                <a:gridCol w="24048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Practical VRAM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 honest box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Flash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~170–175 GB native FP4+FP8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~160 GB Q4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 H200 (282 GB) comfortable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 RTX (192 GB) tight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4× RTX (384 GB) VRAM ok, PCIe hurts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 default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~295 GB FP8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~590 GB BF16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4× H200 FP8 (564 GB)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8× H200 BF16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4× H200 exists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EF3C7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GLM-5.2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~744 GB FP8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8× H200 (1,128 GB)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8× RTX (768 GB) = lie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Gated buy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50749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expert stays resident. You cannot swap MoE experts without latency spikes that make the model unusable.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is utilization, not list price. Path: API → colo → buy.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585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 ·  Local open-weight inference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8695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1828800" cy="1965960"/>
          </a:xfrm>
          <a:prstGeom prst="roundRect">
            <a:avLst>
              <a:gd name="adj" fmla="val 3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7190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6072" y="2176272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extra GPUs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50008" y="2057400"/>
            <a:ext cx="146304" cy="164592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2514600" y="1325880"/>
            <a:ext cx="1828800" cy="1965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17190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87752" y="2176272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cluster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 metal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61688" y="2057400"/>
            <a:ext cx="146304" cy="164592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26280" y="1325880"/>
            <a:ext cx="1828800" cy="1965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17190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99432" y="2176272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if busy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 mo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4290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rises left → right. Do not skip to own iron on a list price.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1280160"/>
            <a:ext cx="491947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353312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1591056"/>
            <a:ext cx="4645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extra GPUs. LiteLLM in front of DeepSeek / Z.ai / Tencent APIs. Measure mix. ~80% of calls are usually Flash-class.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2331720"/>
            <a:ext cx="491947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2404872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 first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3720" y="2642616"/>
            <a:ext cx="4645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bare metal usually beats owning H200s for the first cluster. Buy after 3–6 months of measured load.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66560" y="3383280"/>
            <a:ext cx="491947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3456432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&lt;~40% util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03720" y="3694176"/>
            <a:ext cx="4645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Purchased H200s lose to APIs. This is a kill criterion, not a slogan. Exact $/hr: TBD — RFQ.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66560" y="4434840"/>
            <a:ext cx="4919472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4507992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RTX vs 4× H200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03720" y="4745736"/>
            <a:ext cx="4645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 RTX street TCO is typically ⅓–½ of a 4× H200 node. Exact card prices: TBD — quote.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GOVERNANCE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data never leaves the building. MIT is not a review waiver.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585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 ·  Local open-weight inference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8695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85855" cy="5074920"/>
        </p:xfrm>
        <a:graphic>
          <a:graphicData uri="http://schemas.openxmlformats.org/drawingml/2006/table">
            <a:tbl>
              <a:tblPr/>
              <a:tblGrid>
                <a:gridCol w="2194560"/>
                <a:gridCol w="8988552"/>
              </a:tblGrid>
              <a:tr h="563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this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SSO → short-lived service tokens. No shared sk- in Slack.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classes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/ internal / restricted. Restricted: no cloud fallback.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 + metadata always. Raw text only for restricted, 30–90 days.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Provenance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 commit + quant + chat template. Promote through staging.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 gate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tickets, contracts, code — before any weight swap.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guard model on the RTX box. Frontier does not police itself.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Per-team budget + cache-hit + $/successful-task. Agents burn output.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EU: DeepSeek / Zhipu / Tencent weights need legal review. TBD.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PLAN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phases. Exit in the line. Kill criteria on the bar.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585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 ·  Local open-weight inference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8695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43584"/>
            <a:ext cx="3584448" cy="4315968"/>
          </a:xfrm>
          <a:prstGeom prst="roundRect">
            <a:avLst>
              <a:gd name="adj" fmla="val 1531"/>
            </a:avLst>
          </a:prstGeom>
          <a:solidFill>
            <a:srgbClr val="0B122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353312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— prove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7512" y="1682496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4–8 weeks  ·  $0 extra GPU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" y="2084832"/>
            <a:ext cx="3255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Gateway: LiteLLM + SSO + quotas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2615184"/>
            <a:ext cx="3255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Eval: golden set from our tickets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3145536"/>
            <a:ext cx="3255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Iron: RFQ 4× RTX or 2× H200 — not both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" y="3675888"/>
            <a:ext cx="3255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Serving: API routes; measure mix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" y="4206240"/>
            <a:ext cx="3255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Gov: data classes signed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" y="4736592"/>
            <a:ext cx="3255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Bake-off: criteria locked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51960" y="1243584"/>
            <a:ext cx="3584448" cy="4315968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16552" y="1353312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first node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16552" y="1682496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6–10 weeks after Phase 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16552" y="2084832"/>
            <a:ext cx="3255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Gateway: company-flash alias live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16552" y="2615184"/>
            <a:ext cx="3255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Eval: Flash SLO held at 32K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16552" y="3145536"/>
            <a:ext cx="3255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Iron: PO one colo node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16552" y="3675888"/>
            <a:ext cx="3255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Serving: SGLang + vLLM, one schema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16552" y="4206240"/>
            <a:ext cx="3255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Gov: audit lake + pin + promote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16552" y="4736592"/>
            <a:ext cx="3255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Bake-off: Flash vs API, $/task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01000" y="1243584"/>
            <a:ext cx="3584448" cy="4315968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65592" y="1353312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gated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65592" y="1682496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if every gate passes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65592" y="2084832"/>
            <a:ext cx="3255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Gateway: P/D split TBD (2nd node)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65592" y="2615184"/>
            <a:ext cx="3255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Eval: GLM must win our coding set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65592" y="3145536"/>
            <a:ext cx="3255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Iron: 8× H200 / B200 gated PO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65592" y="3675888"/>
            <a:ext cx="3255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Serving: GLM / Hy3-BF16, not hot path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65592" y="4206240"/>
            <a:ext cx="3255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Gov: legal on weights signed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65592" y="4736592"/>
            <a:ext cx="3255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Bake-off: GLM vs Flash/API only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5687568"/>
            <a:ext cx="11185855" cy="6583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" y="5687568"/>
            <a:ext cx="108566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criteria: utilization &lt;~40% after 90 days of Phase 1   ·   bake-off loss that erases TCO   ·   legal no-go on the weight family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Phase 0 and the RFQ now. Keep the 8-GPU node gated.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585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 ·  Local open-weight inference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8695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3584448" cy="3977640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98448"/>
            <a:ext cx="3584448" cy="4572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298448"/>
            <a:ext cx="3584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NOW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88" y="2039112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9659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+ eval harness + data-class policy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4088" y="3044952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971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Bake-off criteria owned by engineering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4088" y="4050792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977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RFQ for 4× RTX PRO 6000 or 2× H200 — not both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51960" y="1298448"/>
            <a:ext cx="3584448" cy="3977640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1298448"/>
            <a:ext cx="3584448" cy="4572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1298448"/>
            <a:ext cx="3584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PHASE 0 EXIT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53128" y="2039112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9659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the winning first node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53128" y="3044952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2971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 Flash as company-flash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453128" y="4050792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3977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+ utilization dashboard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01000" y="1298448"/>
            <a:ext cx="3584448" cy="3977640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1298448"/>
            <a:ext cx="3584448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8" name="Text 26"/>
          <p:cNvSpPr/>
          <p:nvPr/>
        </p:nvSpPr>
        <p:spPr>
          <a:xfrm>
            <a:off x="8001000" y="1298448"/>
            <a:ext cx="3584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STAYS GATED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02168" y="2039112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8458200" y="19659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 H200 or B200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02168" y="3044952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2971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 GLM-5.2 or Hy3-BF16 as default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202168" y="4050792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8458200" y="3977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V4-Pro anywhere in the plan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STACK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bind to aliases. Engines stay behind one OpenAI schema.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585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 ·  Local open-weight inference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8695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11185855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35024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 ·  IDE agents  ·  RAG  ·  internal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6420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pin a Hugging Face ID in a client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084832"/>
            <a:ext cx="11185855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157984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 ·  authN/Z  ·  mTLS  ·  IP allow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48716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DNS only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907792"/>
            <a:ext cx="11185855" cy="749808"/>
          </a:xfrm>
          <a:prstGeom prst="roundRect">
            <a:avLst>
              <a:gd name="adj" fmla="val 609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80944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+ Postgres  ·  aliases  ·  quota  ·  policy  ·  canary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31012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| hy3 | glm | cloud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730752"/>
            <a:ext cx="11185855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03904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SGLang (agents, prefix, MTP)     │     vLLM (ops-default)     │     Cloud overflow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413308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schema. Saturated 4-GPU node without 429+overflow is an outage.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553712"/>
            <a:ext cx="11185855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626864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A  4× RTX / 2× H200  ·  Flash + small + guard          Pool B  8× H200  ·  GLM / Hy3-full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9560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B is Phase 2. Ollama / LM Studio = laptops only.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RULE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how it shards before you ask which card is cheaper.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585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 ·  Local open-weight inference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8695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33832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581912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model fit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GPUs at FP4/FP8?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7512" y="2606040"/>
            <a:ext cx="3054096" cy="86868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679192"/>
            <a:ext cx="2871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RTX PRO 6000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replica-scale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" y="3593592"/>
            <a:ext cx="3054096" cy="86868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666744"/>
            <a:ext cx="2871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→ next question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0" y="1417320"/>
            <a:ext cx="33832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1581912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it shard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4–8 ways?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53712" y="2606040"/>
            <a:ext cx="3054096" cy="86868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/>
        </p:spPr>
      </p:sp>
      <p:sp>
        <p:nvSpPr>
          <p:cNvPr id="17" name="Text 15"/>
          <p:cNvSpPr/>
          <p:nvPr/>
        </p:nvSpPr>
        <p:spPr>
          <a:xfrm>
            <a:off x="4645152" y="2679192"/>
            <a:ext cx="2871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HBM + NVLink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(H200 / B200)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53712" y="3593592"/>
            <a:ext cx="3054096" cy="86868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4645152" y="3666744"/>
            <a:ext cx="2871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it is not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workstation SKU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83880" y="1417320"/>
            <a:ext cx="3502152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8472" y="1581912"/>
            <a:ext cx="3172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GLM / Hy3-BF16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V4-Pro?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348472" y="2606040"/>
            <a:ext cx="3172968" cy="86868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/>
        </p:spPr>
      </p:sp>
      <p:sp>
        <p:nvSpPr>
          <p:cNvPr id="23" name="Text 21"/>
          <p:cNvSpPr/>
          <p:nvPr/>
        </p:nvSpPr>
        <p:spPr>
          <a:xfrm>
            <a:off x="8439912" y="2679192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 / Hy3-BF16 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 H200 gated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48472" y="3593592"/>
            <a:ext cx="3172968" cy="86868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8439912" y="3666744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V4-Pro → do not buy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84632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MI300X/MI325X is not the first box unless ROCm staff already exist. These MoEs land on vLLM/SGLang CUDA first.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MATH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MoE: total params = VRAM. Active params = tok/s. KV is the silent killer.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585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 ·  Local open-weight inference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8695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3584448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481328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04088" y="1920240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" y="2423160"/>
            <a:ext cx="318211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experts resident. Flash 284B · Hy3 295B · GLM ~753B. Active 13B / 21B / ~40B only sets decode cost.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1325880"/>
            <a:ext cx="3584448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1481328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53128" y="1920240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53128" y="2423160"/>
            <a:ext cx="318211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256K–1M context is how a correctly sized weight box OOMs. Size the node for weights + KV, not weights alone.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01000" y="1325880"/>
            <a:ext cx="3584448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2168" y="1481328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02168" y="1920240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boxes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02168" y="2423160"/>
            <a:ext cx="318211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native FP4: 2× H200. Hy3 FP8: 4× H200. GLM FP8: 8× H200. Anything tighter is a lab demo.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Offloading routed experts to CPU turns “does not fit” into “runs, slowly.” A smaller quant that stays in VRAM is usually faster.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SLO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32K. 256K–1M is an explicit route, not a default.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585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 ·  Local open-weight inference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8695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11185855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1499616"/>
            <a:ext cx="1554480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49961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4630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32K default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23160" y="1883664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alias starts here. Holds KV on the Phase-1 box. Raise per route, never globally.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715768"/>
            <a:ext cx="11185855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2916936"/>
            <a:ext cx="1554480" cy="347472"/>
          </a:xfrm>
          <a:prstGeom prst="roundRect">
            <a:avLst>
              <a:gd name="adj" fmla="val 10526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29169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28803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128K Flash quality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23160" y="3300984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this is the SLO, prefer 2× H200 over 4× RTX. Decode bandwidth and KV headroom matter.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4133088"/>
            <a:ext cx="11185855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4334256"/>
            <a:ext cx="1554480" cy="347472"/>
          </a:xfrm>
          <a:prstGeom prst="roundRect">
            <a:avLst>
              <a:gd name="adj" fmla="val 10526"/>
            </a:avLst>
          </a:prstGeom>
          <a:solidFill>
            <a:srgbClr val="FEF3C7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43342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23160" y="42976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256K–1M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423160" y="4718304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Hy3 256K / Flash 1M are marketing ceilings. They are how you OOM. Ticket required.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Identity, class, allow-list, eval, budget — or it is a hobby cluster.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585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 ·  Local open-weight inference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8695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358444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49047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" y="185623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tokens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" y="2313432"/>
            <a:ext cx="3182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Short-lived. Per-team keys. No shared secrets.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1325880"/>
            <a:ext cx="358444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149047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53128" y="185623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class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53128" y="2313432"/>
            <a:ext cx="3182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/ internal / restricted. Restricted has no cloud path.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01000" y="1325880"/>
            <a:ext cx="358444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2168" y="149047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02168" y="185623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Allow-lists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02168" y="2313432"/>
            <a:ext cx="3182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Tools, MCP servers, egress domains per tenant.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566160"/>
            <a:ext cx="358444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73075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" y="409651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+ eval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" y="4553712"/>
            <a:ext cx="3182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Commit, quant, template. Golden set before promote.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51960" y="3566160"/>
            <a:ext cx="358444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3128" y="373075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53128" y="409651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53128" y="4553712"/>
            <a:ext cx="3182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cap, cache-hit, $/successful-task — not $/M only.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3566160"/>
            <a:ext cx="358444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02168" y="373075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02168" y="409651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SBOM / CVE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02168" y="4553712"/>
            <a:ext cx="3182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vLLM, SGLang, CUDA are prod software. Air-gap weight pulls.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PHASE-1 BOM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one first node. It runs Flash. It must not run GLM.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585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 ·  Local open-weight inference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8695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85855" cy="416052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4507992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A — 4× RTX PRO 6000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B — 2× H200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VRAM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~384 GB GDDR7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 GB HBM3e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Flash FP4 + 70–120B replicas, guard, LoRA, canary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Flash native FP4+FP8 and 128K+ KV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 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Multi-GPU TP (no NVLink)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 replica sprawl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Flash, small dense, embeddings, guard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Flash at quality + long-ish context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 not run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GLM-5.2, Hy3-BF16, V4-Pro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GLM-5.2, Hy3-BF16, V4-Pro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TCO vs 4× H200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Typically ⅓–½  ·  exact $ TBD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 — quote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553212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RFQ both. PO one. On-prem only with 8–12 kW, 3-phase, and InfiniBand skills. A weak-IOPS Proxmox guest is the wrong host.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BAKE-OFF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our work. Vendor benches are directional only.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18585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5105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 ·  Local open-weight inference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48695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5440680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8132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80136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tickets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258568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set from real incidents, contracts, and repo tasks. Not SWE-bench screenshots.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298448"/>
            <a:ext cx="5440680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48132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180136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code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5080" y="2258568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Coding-agent trajectories on our stack. GLM enters only if it wins this set.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447288"/>
            <a:ext cx="5440680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63016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95020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Cache-hit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" y="4407408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system prompts and agent loops. RadixAttention / prefix cache is a cost lever.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3447288"/>
            <a:ext cx="5440680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63016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395020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/ successful task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55080" y="4407408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$/M tokens. Agents burn output. A cheaper token that fails the task is more expensive.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open-weight inference: buy the daily driver, not the lab</dc:title>
  <dc:subject>Technical + technical senior management · 15 Aug 2026</dc:subject>
  <dc:creator>Hermes PPTX (OSS)</dc:creator>
  <cp:lastModifiedBy>Hermes PPTX (OSS)</cp:lastModifiedBy>
  <cp:revision>1</cp:revision>
  <dcterms:created xsi:type="dcterms:W3CDTF">2026-08-15T11:56:15Z</dcterms:created>
  <dcterms:modified xsi:type="dcterms:W3CDTF">2026-08-15T11:56:15Z</dcterms:modified>
</cp:coreProperties>
</file>